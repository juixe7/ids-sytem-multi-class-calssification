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Multi-Class Intrusion Detection using Machine Learning: A Comparative and Explainable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Hrushikesh Ramilla | Avadh Khandelwal | Himavarshith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Intrusion Detection Systems classify malicious network traffic before damage spreads.</a:t>
            </a:r>
          </a:p>
          <a:p>
            <a:pPr>
              <a:defRPr sz="2400"/>
            </a:pPr>
            <a:r>
              <a:t>UNSW-NB15 is highly imbalanced, multiclass, and noisy, which makes minority-class detection difficult.</a:t>
            </a:r>
          </a:p>
          <a:p>
            <a:pPr>
              <a:defRPr sz="2400"/>
            </a:pPr>
            <a:r>
              <a:t>Goal: build a reproducible, explainable IDS pipeline and a usable GUI for demo and SaaS-style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6634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Predefined training rows: 82,332</a:t>
            </a:r>
          </a:p>
          <a:p>
            <a:pPr>
              <a:defRPr sz="2100"/>
            </a:pPr>
            <a:r>
              <a:t>Predefined testing rows: 175,341</a:t>
            </a:r>
          </a:p>
          <a:p>
            <a:pPr>
              <a:defRPr sz="2100"/>
            </a:pPr>
            <a:r>
              <a:t>After leakage-safe cleaning, duplicates were removed and the multiclass target remained attack_cat.</a:t>
            </a:r>
          </a:p>
          <a:p>
            <a:pPr>
              <a:defRPr sz="2100"/>
            </a:pPr>
            <a:r>
              <a:t>Class distribution remains heavily skewed toward normal and exploits traffic.</a:t>
            </a:r>
          </a:p>
        </p:txBody>
      </p:sp>
      <p:pic>
        <p:nvPicPr>
          <p:cNvPr id="4" name="Picture 3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6217920" cy="2295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6634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ID leakage inflated apparent performance and hid true generalization gaps.</a:t>
            </a:r>
          </a:p>
          <a:p>
            <a:pPr>
              <a:defRPr sz="2100"/>
            </a:pPr>
            <a:r>
              <a:t>Duplicate removal originally ran before dropping ID, so duplicates were effectively invisible.</a:t>
            </a:r>
          </a:p>
          <a:p>
            <a:pPr>
              <a:defRPr sz="2100"/>
            </a:pPr>
            <a:r>
              <a:t>Feature-selection and imbalance handling were too weak for minority classes like fuzzers and worms.</a:t>
            </a:r>
          </a:p>
        </p:txBody>
      </p:sp>
      <p:pic>
        <p:nvPicPr>
          <p:cNvPr id="4" name="Picture 3" descr="repo_benchmark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6217920" cy="3700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92024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 F1</a:t>
                      </a:r>
                    </a:p>
                  </a:txBody>
                  <a:tcPr/>
                </a:tc>
              </a:tr>
              <a:tr h="1920240">
                <a:tc>
                  <a:txBody>
                    <a:bodyPr/>
                    <a:lstStyle/>
                    <a:p>
                      <a:r>
                        <a:t>Leakage-safe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Phase 1 established the first reliable, leakage-free baseline after removing ID leakage and fixing duplicate handling.</a:t>
            </a:r>
          </a:p>
          <a:p>
            <a:pPr>
              <a:defRPr sz="1800"/>
            </a:pPr>
            <a:r>
              <a:t>LGBM became the best baseline model under the unchanged ranking rule.</a:t>
            </a:r>
          </a:p>
        </p:txBody>
      </p:sp>
      <p:pic>
        <p:nvPicPr>
          <p:cNvPr id="5" name="Picture 4" descr="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8898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Fixes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60120"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It Mattered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Drop ID before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Removed leakage and reduced overfitting.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Correct duplicate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26,387 train and 67,601 test duplicates.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Restore feature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Re-enabled controlled selection for stable training.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These fixes rebuilt trust in the evaluation pipeline.</a:t>
            </a:r>
          </a:p>
          <a:p>
            <a:pPr>
              <a:defRPr sz="1800"/>
            </a:pPr>
            <a:r>
              <a:t>They also changed the effective class distribution materially, especially for normal and generic traffic.</a:t>
            </a:r>
          </a:p>
        </p:txBody>
      </p:sp>
      <p:pic>
        <p:nvPicPr>
          <p:cNvPr id="5" name="Picture 4" descr="missing_after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2889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Improvements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2801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 F1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LGBM (offline)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0.7010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LGBM (production calibrated)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Feature cap increased to 50, class weights were applied, SMOTE was added on training-only paths, and the final model was calibrated.</a:t>
            </a:r>
          </a:p>
          <a:p>
            <a:pPr>
              <a:defRPr sz="1800"/>
            </a:pPr>
            <a:r>
              <a:t>Macro F1 improved materially, but fuzzers still underperformed in production.</a:t>
            </a:r>
          </a:p>
        </p:txBody>
      </p:sp>
      <p:pic>
        <p:nvPicPr>
          <p:cNvPr id="5" name="Picture 4" descr="training_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34771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Improvements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2801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 F1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LGBM (offline)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0.7244</a:t>
                      </a:r>
                    </a:p>
                  </a:txBody>
                  <a:tcPr/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t>LGBM (production thresholded)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Added interaction features, raised feature cap to 75, reduced SMOTE aggressiveness, and tuned minority thresholds.</a:t>
            </a:r>
          </a:p>
          <a:p>
            <a:pPr>
              <a:defRPr sz="1800"/>
            </a:pPr>
            <a:r>
              <a:t>Tuned thresholds: fuzzers=0.30, backdoor=0.15, analysis=0.20, worms=0.15.</a:t>
            </a:r>
          </a:p>
        </p:txBody>
      </p:sp>
      <p:pic>
        <p:nvPicPr>
          <p:cNvPr id="5" name="Picture 4" descr="per_class_f1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4949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74.73%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0.5269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Final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LGBM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Fuzzers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0.2552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Fuzzers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current deployable model is a calibrated and thresholded LGBM.</a:t>
            </a:r>
          </a:p>
          <a:p>
            <a:pPr>
              <a:defRPr sz="1800"/>
            </a:pPr>
            <a:r>
              <a:t>Performance improved materially across phases, but the 0.60+ Macro F1 target was not reached.</a:t>
            </a:r>
          </a:p>
        </p:txBody>
      </p:sp>
      <p:pic>
        <p:nvPicPr>
          <p:cNvPr id="5" name="Picture 4" descr="confusion_matrix_l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852160" cy="4674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Raw UNSW Features</a:t>
            </a:r>
          </a:p>
        </p:txBody>
      </p:sp>
      <p:sp>
        <p:nvSpPr>
          <p:cNvPr id="4" name="Chevron 3"/>
          <p:cNvSpPr/>
          <p:nvPr/>
        </p:nvSpPr>
        <p:spPr>
          <a:xfrm>
            <a:off x="169164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874519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Cleaning + ID Removal</a:t>
            </a:r>
          </a:p>
        </p:txBody>
      </p:sp>
      <p:sp>
        <p:nvSpPr>
          <p:cNvPr id="6" name="Chevron 5"/>
          <p:cNvSpPr/>
          <p:nvPr/>
        </p:nvSpPr>
        <p:spPr>
          <a:xfrm>
            <a:off x="310896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Interaction Features</a:t>
            </a:r>
          </a:p>
        </p:txBody>
      </p:sp>
      <p:sp>
        <p:nvSpPr>
          <p:cNvPr id="8" name="Chevron 7"/>
          <p:cNvSpPr/>
          <p:nvPr/>
        </p:nvSpPr>
        <p:spPr>
          <a:xfrm>
            <a:off x="452628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70916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Encoding + Selection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594360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SMOTE + Class Weights</a:t>
            </a:r>
          </a:p>
        </p:txBody>
      </p:sp>
      <p:sp>
        <p:nvSpPr>
          <p:cNvPr id="12" name="Chevron 11"/>
          <p:cNvSpPr/>
          <p:nvPr/>
        </p:nvSpPr>
        <p:spPr>
          <a:xfrm>
            <a:off x="736092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54380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LGBM</a:t>
            </a:r>
          </a:p>
        </p:txBody>
      </p:sp>
      <p:sp>
        <p:nvSpPr>
          <p:cNvPr id="14" name="Chevron 13"/>
          <p:cNvSpPr/>
          <p:nvPr/>
        </p:nvSpPr>
        <p:spPr>
          <a:xfrm>
            <a:off x="877824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Calibration + Thresholds</a:t>
            </a:r>
          </a:p>
        </p:txBody>
      </p:sp>
      <p:sp>
        <p:nvSpPr>
          <p:cNvPr id="16" name="Chevron 15"/>
          <p:cNvSpPr/>
          <p:nvPr/>
        </p:nvSpPr>
        <p:spPr>
          <a:xfrm>
            <a:off x="10195560" y="2011680"/>
            <a:ext cx="27432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0378440" y="18288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Prediction + 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Production path: cleaned inputs -&gt; selected 75-feature space -&gt; calibrated + thresholded LGBM -&gt; multiclass prediction -&gt; SHAP explanation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Dashboard validation passed: overview=True, prediction=True, CSV with id=True.</a:t>
            </a:r>
          </a:p>
          <a:p>
            <a:pPr>
              <a:defRPr sz="1700"/>
            </a:pPr>
            <a:r>
              <a:t>The GUI prefers the API when available and falls back to direct local inference when needed.</a:t>
            </a:r>
          </a:p>
          <a:p>
            <a:pPr>
              <a:defRPr sz="1700"/>
            </a:pPr>
            <a:r>
              <a:t>Prediction flow supports manual single-record scoring, CSV batch upload, and SHAP-backed explanation views.</a:t>
            </a:r>
          </a:p>
        </p:txBody>
      </p:sp>
      <p:pic>
        <p:nvPicPr>
          <p:cNvPr id="4" name="Picture 3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3749039" cy="2343149"/>
          </a:xfrm>
          <a:prstGeom prst="rect">
            <a:avLst/>
          </a:prstGeom>
        </p:spPr>
      </p:pic>
      <p:pic>
        <p:nvPicPr>
          <p:cNvPr id="5" name="Picture 4" descr="dashboard_predic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28800"/>
            <a:ext cx="3749039" cy="2343149"/>
          </a:xfrm>
          <a:prstGeom prst="rect">
            <a:avLst/>
          </a:prstGeom>
        </p:spPr>
      </p:pic>
      <p:pic>
        <p:nvPicPr>
          <p:cNvPr id="6" name="Picture 5" descr="dashboard_prediction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749039" cy="2343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6634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Leakage removal mattered more than raw model complexity.</a:t>
            </a:r>
          </a:p>
          <a:p>
            <a:pPr>
              <a:defRPr sz="2100"/>
            </a:pPr>
            <a:r>
              <a:t>Controlled SMOTE plus threshold tuning improved minority-class recovery without destabilizing the pipeline.</a:t>
            </a:r>
          </a:p>
          <a:p>
            <a:pPr>
              <a:defRPr sz="2100"/>
            </a:pPr>
            <a:r>
              <a:t>Fuzzers remains the most difficult class because of overlap with benign behavior and limited discriminative signal.</a:t>
            </a:r>
          </a:p>
        </p:txBody>
      </p:sp>
      <p:pic>
        <p:nvPicPr>
          <p:cNvPr id="4" name="Picture 3" descr="performanc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6217920" cy="36951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Production Macro F1 is 0.5269, so the 0.60+ target was not achieved.</a:t>
            </a:r>
          </a:p>
          <a:p>
            <a:pPr>
              <a:defRPr sz="2400"/>
            </a:pPr>
            <a:r>
              <a:t>Fuzzers recall remains low even after threshold tuning and interaction features.</a:t>
            </a:r>
          </a:p>
          <a:p>
            <a:pPr>
              <a:defRPr sz="2400"/>
            </a:pPr>
            <a:r>
              <a:t>The dataset still reflects strong class overlap and heavy skew toward normal traffic.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Train a dedicated binary detector alongside the multiclass model for layered defense.</a:t>
            </a:r>
          </a:p>
          <a:p>
            <a:pPr>
              <a:defRPr sz="2400"/>
            </a:pPr>
            <a:r>
              <a:t>Explore cost-sensitive boosting and richer temporal or flow-aggregation features.</a:t>
            </a:r>
          </a:p>
          <a:p>
            <a:pPr>
              <a:defRPr sz="2400"/>
            </a:pPr>
            <a:r>
              <a:t>Add threshold search per deployment scenario and automated periodic model refresh.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